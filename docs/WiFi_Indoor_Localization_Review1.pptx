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83153"/>
          </a:solidFill>
          <a:ln w="12700">
            <a:solidFill>
              <a:srgbClr val="1831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23CSE301 • Machine Learning • Review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138160" y="644652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Wi-Fi Fingerprint Localization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638544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638544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0"/>
            <a:ext cx="2267712" cy="6638544"/>
          </a:xfrm>
          <a:prstGeom prst="rect">
            <a:avLst/>
          </a:prstGeom>
          <a:solidFill>
            <a:srgbClr val="183153"/>
          </a:solidFill>
          <a:ln w="12700">
            <a:solidFill>
              <a:srgbClr val="1831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70" kern="0" dirty="0">
                <a:solidFill>
                  <a:srgbClr val="0FA3B1"/>
                </a:solidFill>
              </a:rPr>
              <a:t>23CSE301 • MACHINE LEARNING CAPSTONE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207008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83153"/>
                </a:solidFill>
              </a:rPr>
              <a:t>Wi-Fi Fingerprint-Based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83153"/>
                </a:solidFill>
              </a:rPr>
              <a:t>Indoor Localization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58368" y="26974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03D"/>
                </a:solidFill>
              </a:rPr>
              <a:t>Machine learning from Wi-Fi RSSI fingerprints to predict indoor coordinates and floor level.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365760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E7F7F8"/>
          </a:solidFill>
          <a:ln w="12700">
            <a:solidFill>
              <a:srgbClr val="E7F7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7170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C88"/>
                </a:solidFill>
              </a:rPr>
              <a:t>REVIEW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74520" y="365760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3717036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3153"/>
                </a:solidFill>
              </a:rPr>
              <a:t>REGRESSION + CLASSIFICATION PART 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4297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7F"/>
                </a:solidFill>
              </a:rPr>
              <a:t>Team: K. Ganesh Giridhar • A. Suhas Reddy • G. R. Balaji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470916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37F"/>
                </a:solidFill>
              </a:rPr>
              <a:t>Amrita Vishwa Vidyapeetham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37F"/>
                </a:solidFill>
              </a:rPr>
              <a:t>B.Tech CSE • Academic Year 2026–27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287000" y="1051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Wi-Fi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222992" y="1737360"/>
            <a:ext cx="1444752" cy="685800"/>
          </a:xfrm>
          <a:prstGeom prst="arc">
            <a:avLst/>
          </a:prstGeom>
          <a:solidFill>
            <a:srgbClr val="183153">
              <a:alpha val="0"/>
            </a:srgbClr>
          </a:solidFill>
          <a:ln w="5080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460736" y="2157984"/>
            <a:ext cx="969264" cy="475488"/>
          </a:xfrm>
          <a:prstGeom prst="arc">
            <a:avLst/>
          </a:prstGeom>
          <a:solidFill>
            <a:srgbClr val="183153">
              <a:alpha val="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17352" y="2441448"/>
            <a:ext cx="256032" cy="256032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78440" y="3063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RSSI 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42448" y="371246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(X, Y)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469880" y="43159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FF3"/>
                </a:solidFill>
              </a:rPr>
              <a:t>Floor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A3B1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153"/>
                </a:solidFill>
              </a:rPr>
              <a:t>Indoor localization from Wi-Fi fingerprints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7F"/>
                </a:solidFill>
              </a:rPr>
              <a:t>A practical ML problem: infer position from the signal pattern seen across nearby access points.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73152" cy="18745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47672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</a:rPr>
              <a:t>The 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286000"/>
            <a:ext cx="300837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03D"/>
                </a:solidFill>
              </a:rPr>
              <a:t>GPS performance drops indoors because building materials and limited line-of-sight weaken satellite signals. Wi-Fi is already present in most indoor environments.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78308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1783080"/>
            <a:ext cx="73152" cy="1874520"/>
          </a:xfrm>
          <a:prstGeom prst="rect">
            <a:avLst/>
          </a:prstGeom>
          <a:solidFill>
            <a:srgbClr val="183153"/>
          </a:solidFill>
          <a:ln w="12700">
            <a:solidFill>
              <a:srgbClr val="1831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1947672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</a:rPr>
              <a:t>The signal fingerprint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15968" y="2286000"/>
            <a:ext cx="300837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03D"/>
                </a:solidFill>
              </a:rPr>
              <a:t>At any point, a device sees a characteristic combination of RSSI values from nearby Wi-Fi access points. That pattern can act as a location signature.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35240" y="178308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1783080"/>
            <a:ext cx="73152" cy="187452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6408" y="1947672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</a:rPr>
              <a:t>The ML objective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36408" y="2286000"/>
            <a:ext cx="3008376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03D"/>
                </a:solidFill>
              </a:rPr>
              <a:t>Learn the mapping from RSSI fingerprints to indoor coordinates and floor level, then compare multiple models under one consistent evaluation setup.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9776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153"/>
                </a:solidFill>
              </a:rPr>
              <a:t>Core idea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416552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994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153"/>
                </a:solidFill>
              </a:rPr>
              <a:t>Wi-Fi APs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37F"/>
                </a:solidFill>
              </a:rPr>
              <a:t>nearby signals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560320" y="4873752"/>
            <a:ext cx="384048" cy="0"/>
          </a:xfrm>
          <a:prstGeom prst="line">
            <a:avLst/>
          </a:prstGeom>
          <a:noFill/>
          <a:ln w="2286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063240" y="4416552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45994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153"/>
                </a:solidFill>
              </a:rPr>
              <a:t>RSSI fingerprint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154680" y="4892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37F"/>
                </a:solidFill>
              </a:rPr>
              <a:t>WAP001 … WAP520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800600" y="4873752"/>
            <a:ext cx="384048" cy="0"/>
          </a:xfrm>
          <a:prstGeom prst="line">
            <a:avLst/>
          </a:prstGeom>
          <a:noFill/>
          <a:ln w="2286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440680" y="4416552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45994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153"/>
                </a:solidFill>
              </a:rPr>
              <a:t>Preprocess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32120" y="4892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37F"/>
                </a:solidFill>
              </a:rPr>
              <a:t>clean + engineer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178040" y="4873752"/>
            <a:ext cx="384048" cy="0"/>
          </a:xfrm>
          <a:prstGeom prst="line">
            <a:avLst/>
          </a:prstGeom>
          <a:noFill/>
          <a:ln w="2286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7863840" y="4416552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45994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153"/>
                </a:solidFill>
              </a:rPr>
              <a:t>ML models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955280" y="4892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37F"/>
                </a:solidFill>
              </a:rPr>
              <a:t>regression / class.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9601200" y="4873752"/>
            <a:ext cx="384048" cy="0"/>
          </a:xfrm>
          <a:prstGeom prst="line">
            <a:avLst/>
          </a:prstGeom>
          <a:noFill/>
          <a:ln w="2286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0104120" y="4416552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83153"/>
          </a:solidFill>
          <a:ln w="12700">
            <a:solidFill>
              <a:srgbClr val="1831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95560" y="45994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Location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195560" y="48920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D8F4F6"/>
                </a:solidFill>
              </a:rPr>
              <a:t>(X, Y) + floor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A3B1"/>
                </a:solidFill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153"/>
                </a:solidFill>
              </a:rPr>
              <a:t>Why this problem is worth studying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7F"/>
                </a:solidFill>
              </a:rPr>
              <a:t>Wi-Fi localization is useful because the infrastructure already exists; the ML challenge is making sense of noisy, high-dimensional signal patterns.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4572000" cy="3566160"/>
          </a:xfrm>
          <a:prstGeom prst="roundRect">
            <a:avLst>
              <a:gd name="adj" fmla="val 2051"/>
            </a:avLst>
          </a:prstGeom>
          <a:solidFill>
            <a:srgbClr val="183153"/>
          </a:solidFill>
          <a:ln w="12700">
            <a:solidFill>
              <a:srgbClr val="1831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E6EA"/>
                </a:solidFill>
              </a:rPr>
              <a:t>Research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How effectively can machine learning learn indoor spatial representations from noisy Wi-Fi RSSI fingerprints?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43159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CEBF0"/>
                </a:solidFill>
              </a:rPr>
              <a:t>Focus: model accuracy, robustness and fair comparison — not application UI.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7373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1737360"/>
            <a:ext cx="73152" cy="155448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9008" y="1901952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</a:rPr>
              <a:t>No GPS dependency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79008" y="2240280"/>
            <a:ext cx="236829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03D"/>
                </a:solidFill>
              </a:rPr>
              <a:t>Indoor positioning can use existing Wi-Fi infrastructure rather than relying on satellite visibility.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58200" y="17373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1737360"/>
            <a:ext cx="73152" cy="1554480"/>
          </a:xfrm>
          <a:prstGeom prst="rect">
            <a:avLst/>
          </a:prstGeom>
          <a:solidFill>
            <a:srgbClr val="183153"/>
          </a:solidFill>
          <a:ln w="12700">
            <a:solidFill>
              <a:srgbClr val="1831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59368" y="1901952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</a:rPr>
              <a:t>High-dimensional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59368" y="2240280"/>
            <a:ext cx="236829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03D"/>
                </a:solidFill>
              </a:rPr>
              <a:t>Hundreds of AP features create a rich but noisy learning problem.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3566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3566160"/>
            <a:ext cx="73152" cy="1554480"/>
          </a:xfrm>
          <a:prstGeom prst="rect">
            <a:avLst/>
          </a:prstGeom>
          <a:solidFill>
            <a:srgbClr val="183153"/>
          </a:solidFill>
          <a:ln w="12700">
            <a:solidFill>
              <a:srgbClr val="1831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79008" y="3730752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</a:rPr>
              <a:t>Model comparison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79008" y="4069080"/>
            <a:ext cx="236829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03D"/>
                </a:solidFill>
              </a:rPr>
              <a:t>Distance-based, linear, tree and ensemble models behave differently on RSSI data.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58200" y="3566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8200" y="3566160"/>
            <a:ext cx="73152" cy="155448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9368" y="3730752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</a:rPr>
              <a:t>Measurable outcome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59368" y="4069080"/>
            <a:ext cx="2368296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03D"/>
                </a:solidFill>
              </a:rPr>
              <a:t>Coordinate error and floor classification make model performance concrete.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23560" y="5468112"/>
            <a:ext cx="5504688" cy="310896"/>
          </a:xfrm>
          <a:prstGeom prst="roundRect">
            <a:avLst>
              <a:gd name="adj" fmla="val 23529"/>
            </a:avLst>
          </a:prstGeom>
          <a:solidFill>
            <a:srgbClr val="E7F7F8"/>
          </a:solidFill>
          <a:ln w="12700">
            <a:solidFill>
              <a:srgbClr val="E7F7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96712" y="5527548"/>
            <a:ext cx="5358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C88"/>
                </a:solidFill>
              </a:rPr>
              <a:t>Problem → Data → Models → Results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A3B1"/>
                </a:solidFill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153"/>
                </a:solidFill>
              </a:rPr>
              <a:t>One dataset, two supervised learning tasks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7F"/>
                </a:solidFill>
              </a:rPr>
              <a:t>Review 1 follows the capstone workflow: audit → EDA → preprocessing → feature engineering → model comparison → tuning.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2743200" cy="4160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FA3B1"/>
                </a:solidFill>
              </a:rPr>
              <a:t>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153"/>
                </a:solidFill>
              </a:rPr>
              <a:t>UJIIndoorLoc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37F"/>
                </a:solidFill>
              </a:rPr>
              <a:t>UCI Machine Learning Repository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A3B1"/>
                </a:solidFill>
              </a:rPr>
              <a:t>19,937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74520" y="33558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03D"/>
                </a:solidFill>
              </a:rPr>
              <a:t>training samples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40873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A3B1"/>
                </a:solidFill>
              </a:rPr>
              <a:t>1,111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74520" y="410565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03D"/>
                </a:solidFill>
              </a:rPr>
              <a:t>validation samples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48371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A3B1"/>
                </a:solidFill>
              </a:rPr>
              <a:t>520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74520" y="4855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03D"/>
                </a:solidFill>
              </a:rPr>
              <a:t>WAP signal features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794760" y="2057400"/>
            <a:ext cx="1325880" cy="1078992"/>
          </a:xfrm>
          <a:prstGeom prst="roundRect">
            <a:avLst>
              <a:gd name="adj" fmla="val 6780"/>
            </a:avLst>
          </a:prstGeom>
          <a:solidFill>
            <a:srgbClr val="E7F7F8"/>
          </a:solidFill>
          <a:ln w="12700">
            <a:solidFill>
              <a:srgbClr val="C5E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4488" y="2212848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A3B1"/>
                </a:solidFill>
              </a:rPr>
              <a:t>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04488" y="2542032"/>
            <a:ext cx="106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153"/>
                </a:solidFill>
              </a:rPr>
              <a:t>Audit + EDA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38928" y="2587752"/>
            <a:ext cx="173736" cy="0"/>
          </a:xfrm>
          <a:prstGeom prst="line">
            <a:avLst/>
          </a:prstGeom>
          <a:noFill/>
          <a:ln w="2159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330952" y="2057400"/>
            <a:ext cx="1325880" cy="1078992"/>
          </a:xfrm>
          <a:prstGeom prst="roundRect">
            <a:avLst>
              <a:gd name="adj" fmla="val 6780"/>
            </a:avLst>
          </a:prstGeom>
          <a:solidFill>
            <a:srgbClr val="EAF1F8"/>
          </a:solidFill>
          <a:ln w="12700">
            <a:solidFill>
              <a:srgbClr val="CBD9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2212848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A3B1"/>
                </a:solidFill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0680" y="2542032"/>
            <a:ext cx="106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153"/>
                </a:solidFill>
              </a:rPr>
              <a:t>Cleaning + scaling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2587752"/>
            <a:ext cx="173736" cy="0"/>
          </a:xfrm>
          <a:prstGeom prst="line">
            <a:avLst/>
          </a:prstGeom>
          <a:noFill/>
          <a:ln w="2159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867144" y="2057400"/>
            <a:ext cx="1325880" cy="1078992"/>
          </a:xfrm>
          <a:prstGeom prst="roundRect">
            <a:avLst>
              <a:gd name="adj" fmla="val 6780"/>
            </a:avLst>
          </a:prstGeom>
          <a:solidFill>
            <a:srgbClr val="E7F7F8"/>
          </a:solidFill>
          <a:ln w="12700">
            <a:solidFill>
              <a:srgbClr val="C5E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76872" y="2212848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A3B1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76872" y="2542032"/>
            <a:ext cx="106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153"/>
                </a:solidFill>
              </a:rPr>
              <a:t>Feature engineering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11312" y="2587752"/>
            <a:ext cx="173736" cy="0"/>
          </a:xfrm>
          <a:prstGeom prst="line">
            <a:avLst/>
          </a:prstGeom>
          <a:noFill/>
          <a:ln w="2159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403336" y="2057400"/>
            <a:ext cx="1325880" cy="1078992"/>
          </a:xfrm>
          <a:prstGeom prst="roundRect">
            <a:avLst>
              <a:gd name="adj" fmla="val 6780"/>
            </a:avLst>
          </a:prstGeom>
          <a:solidFill>
            <a:srgbClr val="EAF1F8"/>
          </a:solidFill>
          <a:ln w="12700">
            <a:solidFill>
              <a:srgbClr val="CBD9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13064" y="2212848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A3B1"/>
                </a:solidFill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13064" y="2542032"/>
            <a:ext cx="106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153"/>
                </a:solidFill>
              </a:rPr>
              <a:t>Train + compare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747504" y="2587752"/>
            <a:ext cx="173736" cy="0"/>
          </a:xfrm>
          <a:prstGeom prst="line">
            <a:avLst/>
          </a:prstGeom>
          <a:noFill/>
          <a:ln w="21590">
            <a:solidFill>
              <a:srgbClr val="0FA3B1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939528" y="2057400"/>
            <a:ext cx="1325880" cy="1078992"/>
          </a:xfrm>
          <a:prstGeom prst="roundRect">
            <a:avLst>
              <a:gd name="adj" fmla="val 6780"/>
            </a:avLst>
          </a:prstGeom>
          <a:solidFill>
            <a:srgbClr val="E7F7F8"/>
          </a:solidFill>
          <a:ln w="12700">
            <a:solidFill>
              <a:srgbClr val="C5EB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49256" y="2212848"/>
            <a:ext cx="320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A3B1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49256" y="2542032"/>
            <a:ext cx="106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153"/>
                </a:solidFill>
              </a:rPr>
              <a:t>Tune + validate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94760" y="370332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18315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69080" y="3977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3153"/>
                </a:solidFill>
              </a:rPr>
              <a:t>REGRESSION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069080" y="4389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A3B1"/>
                </a:solidFill>
              </a:rPr>
              <a:t>RSSI → (X, Y)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069080" y="486460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37F"/>
                </a:solidFill>
              </a:rPr>
              <a:t>10 required algorithms • R² • RMSE • MAE • 5-fold CV for the top 2 models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543800" y="370332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39776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A3B1"/>
                </a:solidFill>
              </a:rPr>
              <a:t>CLASSIFICATION • PART 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818120" y="4389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3153"/>
                </a:solidFill>
              </a:rPr>
              <a:t>RSSI → Floor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818120" y="486460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37F"/>
                </a:solidFill>
              </a:rPr>
              <a:t>5 required algorithms • Accuracy • Weighted F1 • Confusion Matrix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A3B1"/>
                </a:solidFill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153"/>
                </a:solidFill>
              </a:rPr>
              <a:t>Review 1 model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7F"/>
                </a:solidFill>
              </a:rPr>
              <a:t>The repository reports strong performance from proximity-based and kernel-based methods on the UJIIndoorLoc fingerprint space.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385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A3B1"/>
                </a:solidFill>
              </a:rPr>
              <a:t>0.9966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95528" y="25237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153"/>
                </a:solidFill>
              </a:rPr>
              <a:t>Best regression R²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5528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7F"/>
                </a:solidFill>
              </a:rPr>
              <a:t>KNN Regressor (tuned)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75564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2736" y="19385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153"/>
                </a:solidFill>
              </a:rPr>
              <a:t>7.28 m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602736" y="25237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153"/>
                </a:solidFill>
              </a:rPr>
              <a:t>Regression RMSE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02736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7F"/>
                </a:solidFill>
              </a:rPr>
              <a:t>KNN Regressor (tuned)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08776" y="1755648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19385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A3B1"/>
                </a:solidFill>
              </a:rPr>
              <a:t>0.9937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409944" y="25237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153"/>
                </a:solidFill>
              </a:rPr>
              <a:t>Best classification accuracy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9944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7F"/>
                </a:solidFill>
              </a:rPr>
              <a:t>SVC (RBF)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15984" y="1755648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193852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3153"/>
                </a:solidFill>
              </a:rPr>
              <a:t>0.9937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217152" y="252374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3153"/>
                </a:solidFill>
              </a:rPr>
              <a:t>Best weighted F1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17152" y="276148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6737F"/>
                </a:solidFill>
              </a:rPr>
              <a:t>SVC (RBF)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3493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153"/>
                </a:solidFill>
              </a:rPr>
              <a:t>Regression • R²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88620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03D"/>
                </a:solidFill>
              </a:rPr>
              <a:t>KNN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88720" y="3886200"/>
            <a:ext cx="4283068" cy="182880"/>
          </a:xfrm>
          <a:prstGeom prst="roundRect">
            <a:avLst>
              <a:gd name="adj" fmla="val 15000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08948" y="38679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3153"/>
                </a:solidFill>
              </a:rPr>
              <a:t>0.9966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685800" y="4297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03D"/>
                </a:solidFill>
              </a:rPr>
              <a:t>RF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88720" y="4297680"/>
            <a:ext cx="4269745" cy="182880"/>
          </a:xfrm>
          <a:prstGeom prst="roundRect">
            <a:avLst>
              <a:gd name="adj" fmla="val 15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5625" y="4279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3153"/>
                </a:solidFill>
              </a:rPr>
              <a:t>0.9935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85800" y="470916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03D"/>
                </a:solidFill>
              </a:rPr>
              <a:t>GB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88720" y="4709160"/>
            <a:ext cx="4211726" cy="182880"/>
          </a:xfrm>
          <a:prstGeom prst="roundRect">
            <a:avLst>
              <a:gd name="adj" fmla="val 15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7606" y="4690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3153"/>
                </a:solidFill>
              </a:rPr>
              <a:t>0.9800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685800" y="512064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03D"/>
                </a:solidFill>
              </a:rPr>
              <a:t>SVR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88720" y="5120640"/>
            <a:ext cx="4192387" cy="182880"/>
          </a:xfrm>
          <a:prstGeom prst="roundRect">
            <a:avLst>
              <a:gd name="adj" fmla="val 15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18267" y="5102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3153"/>
                </a:solidFill>
              </a:rPr>
              <a:t>0.9755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685800" y="55321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03D"/>
                </a:solidFill>
              </a:rPr>
              <a:t>DT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88720" y="5532120"/>
            <a:ext cx="4176056" cy="182880"/>
          </a:xfrm>
          <a:prstGeom prst="roundRect">
            <a:avLst>
              <a:gd name="adj" fmla="val 15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01936" y="5513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3153"/>
                </a:solidFill>
              </a:rPr>
              <a:t>0.9717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6080760" y="3493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153"/>
                </a:solidFill>
              </a:rPr>
              <a:t>Classification • Weighted F1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80760" y="38862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03D"/>
                </a:solidFill>
              </a:rPr>
              <a:t>SVC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75120" y="3886200"/>
            <a:ext cx="4270605" cy="182880"/>
          </a:xfrm>
          <a:prstGeom prst="roundRect">
            <a:avLst>
              <a:gd name="adj" fmla="val 15000"/>
            </a:avLst>
          </a:prstGeom>
          <a:solidFill>
            <a:srgbClr val="183153"/>
          </a:solidFill>
          <a:ln w="12700">
            <a:solidFill>
              <a:srgbClr val="18315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82885" y="38679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3153"/>
                </a:solidFill>
              </a:rPr>
              <a:t>0.9937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080760" y="42976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03D"/>
                </a:solidFill>
              </a:rPr>
              <a:t>LogReg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75120" y="4297680"/>
            <a:ext cx="4250406" cy="182880"/>
          </a:xfrm>
          <a:prstGeom prst="roundRect">
            <a:avLst>
              <a:gd name="adj" fmla="val 15000"/>
            </a:avLst>
          </a:prstGeom>
          <a:solidFill>
            <a:srgbClr val="E7F7F8"/>
          </a:solidFill>
          <a:ln w="12700">
            <a:solidFill>
              <a:srgbClr val="E7F7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062686" y="4279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3153"/>
                </a:solidFill>
              </a:rPr>
              <a:t>0.9890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6080760" y="47091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03D"/>
                </a:solidFill>
              </a:rPr>
              <a:t>KNN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75120" y="4709160"/>
            <a:ext cx="4249116" cy="182880"/>
          </a:xfrm>
          <a:prstGeom prst="roundRect">
            <a:avLst>
              <a:gd name="adj" fmla="val 15000"/>
            </a:avLst>
          </a:prstGeom>
          <a:solidFill>
            <a:srgbClr val="E7F7F8"/>
          </a:solidFill>
          <a:ln w="12700">
            <a:solidFill>
              <a:srgbClr val="E7F7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061396" y="4690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3153"/>
                </a:solidFill>
              </a:rPr>
              <a:t>0.9887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6080760" y="51206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03D"/>
                </a:solidFill>
              </a:rPr>
              <a:t>DT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75120" y="5120640"/>
            <a:ext cx="3445450" cy="182880"/>
          </a:xfrm>
          <a:prstGeom prst="roundRect">
            <a:avLst>
              <a:gd name="adj" fmla="val 15000"/>
            </a:avLst>
          </a:prstGeom>
          <a:solidFill>
            <a:srgbClr val="E7F7F8"/>
          </a:solidFill>
          <a:ln w="12700">
            <a:solidFill>
              <a:srgbClr val="E7F7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57730" y="5102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3153"/>
                </a:solidFill>
              </a:rPr>
              <a:t>0.8017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6080760" y="55321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4303D"/>
                </a:solidFill>
              </a:rPr>
              <a:t>GNB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675120" y="5532120"/>
            <a:ext cx="2216743" cy="182880"/>
          </a:xfrm>
          <a:prstGeom prst="roundRect">
            <a:avLst>
              <a:gd name="adj" fmla="val 15000"/>
            </a:avLst>
          </a:prstGeom>
          <a:solidFill>
            <a:srgbClr val="E7F7F8"/>
          </a:solidFill>
          <a:ln w="12700">
            <a:solidFill>
              <a:srgbClr val="E7F7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29023" y="5513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3153"/>
                </a:solidFill>
              </a:rPr>
              <a:t>0.5158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685800" y="606247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i="1" dirty="0">
                <a:solidFill>
                  <a:srgbClr val="66737F"/>
                </a:solidFill>
              </a:rPr>
              <a:t>Reported results from the Review 1 repository README. Values should be defended with the corresponding notebook outputs during viva.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A3B1"/>
                </a:solidFill>
              </a:rPr>
              <a:t>RESULTS →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153"/>
                </a:solidFill>
              </a:rPr>
              <a:t>What the first milestone tells 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7F"/>
                </a:solidFill>
              </a:rPr>
              <a:t>The strongest models exploit spatial similarity and nonlinear structure in the Wi-Fi fingerprint.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37360"/>
            <a:ext cx="73152" cy="16916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01952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</a:rPr>
              <a:t>1 • Fingerprints are highly informative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2240280"/>
            <a:ext cx="305409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03D"/>
                </a:solidFill>
              </a:rPr>
              <a:t>KNN reaches very high coordinate fit, which is consistent with nearby fingerprints carrying strong spatial similarity.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73736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37360"/>
            <a:ext cx="73152" cy="1691640"/>
          </a:xfrm>
          <a:prstGeom prst="rect">
            <a:avLst/>
          </a:prstGeom>
          <a:solidFill>
            <a:srgbClr val="183153"/>
          </a:solidFill>
          <a:ln w="12700">
            <a:solidFill>
              <a:srgbClr val="1831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1901952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</a:rPr>
              <a:t>2 • Nonlinear models matter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1688" y="2240280"/>
            <a:ext cx="305409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03D"/>
                </a:solidFill>
              </a:rPr>
              <a:t>Tree ensembles and SVR outperform the simple linear baselines on the same RSSI feature space.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26680" y="173736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26680" y="1737360"/>
            <a:ext cx="73152" cy="1691640"/>
          </a:xfrm>
          <a:prstGeom prst="rect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7848" y="1901952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3153"/>
                </a:solidFill>
              </a:rPr>
              <a:t>3 • Floor is easier to separate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27848" y="2240280"/>
            <a:ext cx="3054096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4303D"/>
                </a:solidFill>
              </a:rPr>
              <a:t>SVC, Logistic Regression and KNN all show strong floor-classification performance in the reported experiment.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886200"/>
            <a:ext cx="10515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60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A3B1"/>
                </a:solidFill>
              </a:rPr>
              <a:t>Next phase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4224528"/>
            <a:ext cx="0" cy="658368"/>
          </a:xfrm>
          <a:prstGeom prst="line">
            <a:avLst/>
          </a:prstGeom>
          <a:noFill/>
          <a:ln w="38100">
            <a:solidFill>
              <a:srgbClr val="0FA3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40873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153"/>
                </a:solidFill>
              </a:rPr>
              <a:t>Classification Part 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65960" y="441655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37F"/>
                </a:solidFill>
              </a:rPr>
              <a:t>RF • AdaBoost • GB • Bagging • MLP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4800600" y="4224528"/>
            <a:ext cx="0" cy="658368"/>
          </a:xfrm>
          <a:prstGeom prst="line">
            <a:avLst/>
          </a:prstGeom>
          <a:noFill/>
          <a:ln w="38100">
            <a:solidFill>
              <a:srgbClr val="1831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40873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153"/>
                </a:solidFill>
              </a:rPr>
              <a:t>Clustering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441655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37F"/>
                </a:solidFill>
              </a:rPr>
              <a:t>K-Means • Agglomerative • PCA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7772400" y="4224528"/>
            <a:ext cx="0" cy="658368"/>
          </a:xfrm>
          <a:prstGeom prst="line">
            <a:avLst/>
          </a:prstGeom>
          <a:noFill/>
          <a:ln w="38100">
            <a:solidFill>
              <a:srgbClr val="0FA3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40873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3153"/>
                </a:solidFill>
              </a:rPr>
              <a:t>Deeper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09560" y="441655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6737F"/>
                </a:solidFill>
              </a:rPr>
              <a:t>robustness • error patterns • spatial interpretation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685800" y="587044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66737F"/>
                </a:solidFill>
              </a:rPr>
              <a:t>Review 1 scope is intentionally focused on the graded Regression track + Classification Part A.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A3B1"/>
                </a:solidFill>
              </a:rPr>
              <a:t>REVIEW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3153"/>
                </a:solidFill>
              </a:rPr>
              <a:t>Rubric alignment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37F"/>
                </a:solidFill>
              </a:rPr>
              <a:t>A compact checklist for the viva: show that the implementation follows the required evaluation structure.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55648"/>
            <a:ext cx="10972800" cy="4315968"/>
          </a:xfrm>
          <a:prstGeom prst="roundRect">
            <a:avLst>
              <a:gd name="adj" fmla="val 105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20240"/>
            <a:ext cx="10661904" cy="52120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7510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3153"/>
                </a:solidFill>
              </a:rPr>
              <a:t>Dataset &amp; EDA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80360" y="1975104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03D"/>
                </a:solidFill>
              </a:rPr>
              <a:t>Audit, distributions, heatmap, target, scatter plots, written observations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10716768" y="19751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A3B1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2459736"/>
            <a:ext cx="10661904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1460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3153"/>
                </a:solidFill>
              </a:rPr>
              <a:t>Preprocessing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80360" y="251460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03D"/>
                </a:solidFill>
              </a:rPr>
              <a:t>Missing values, duplicates/outliers, split, scaling, leakage control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10716768" y="2514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A3B1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" y="2999232"/>
            <a:ext cx="10661904" cy="52120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5409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3153"/>
                </a:solidFill>
              </a:rPr>
              <a:t>Feature engineering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80360" y="3054096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03D"/>
                </a:solidFill>
              </a:rPr>
              <a:t>RSSI aggregates + justification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10716768" y="30540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A3B1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" y="3538728"/>
            <a:ext cx="10661904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59359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3153"/>
                </a:solidFill>
              </a:rPr>
              <a:t>Regression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80360" y="3593592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03D"/>
                </a:solidFill>
              </a:rPr>
              <a:t>10 required algorithms + R² / RMSE / MAE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10716768" y="35935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A3B1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9808" y="4078224"/>
            <a:ext cx="10661904" cy="52120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1330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3153"/>
                </a:solidFill>
              </a:rPr>
              <a:t>Tuning &amp; CV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80360" y="4133088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03D"/>
                </a:solidFill>
              </a:rPr>
              <a:t>2 tuned models + 5-fold CV for top 2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10716768" y="413308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A3B1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9808" y="4617720"/>
            <a:ext cx="10661904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67258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3153"/>
                </a:solidFill>
              </a:rPr>
              <a:t>Regression plots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80360" y="4672584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03D"/>
                </a:solidFill>
              </a:rPr>
              <a:t>Predicted vs actual, residuals, tree feature importance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10716768" y="467258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A3B1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9808" y="5157216"/>
            <a:ext cx="10661904" cy="52120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21208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3153"/>
                </a:solidFill>
              </a:rPr>
              <a:t>Classification Part 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80360" y="521208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4303D"/>
                </a:solidFill>
              </a:rPr>
              <a:t>5 classifiers + accuracy + weighted F1 + confusion matrix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10716768" y="52120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A3B1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9808" y="6144768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37F"/>
                </a:solidFill>
              </a:rPr>
              <a:t>Source basis: 23CSE301 capstone guideline + repository README / notebook outputs.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Amrita Vishwa Vidyapeetham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Wi-Fi Fingerprint-Based Indoor Localization Using Machine Learning</dc:title>
  <dc:subject>23CSE301 Machine Learning Capstone - Review 1</dc:subject>
  <dc:creator>Ganesh</dc:creator>
  <cp:lastModifiedBy>Ganesh</cp:lastModifiedBy>
  <cp:revision>1</cp:revision>
  <dcterms:created xsi:type="dcterms:W3CDTF">2026-09-17T21:03:20Z</dcterms:created>
  <dcterms:modified xsi:type="dcterms:W3CDTF">2026-09-17T21:03:20Z</dcterms:modified>
</cp:coreProperties>
</file>