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IBM Plex Sans Arabic" panose="020B0604020202020204" charset="-78"/>
      <p:regular r:id="rId13"/>
    </p:embeddedFont>
    <p:embeddedFont>
      <p:font typeface="IBM Plex Sans Arabic Bold" panose="020B0604020202020204" charset="-78"/>
      <p:regular r:id="rId14"/>
    </p:embeddedFont>
    <p:embeddedFont>
      <p:font typeface="Work Sans Semi-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6" d="100"/>
          <a:sy n="66" d="100"/>
        </p:scale>
        <p:origin x="460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607165">
            <a:off x="15656849" y="52641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607165" flipH="1" flipV="1">
            <a:off x="-1240501" y="-11493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094590" y="3904080"/>
            <a:ext cx="14098820" cy="916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6884"/>
              </a:lnSpc>
              <a:spcBef>
                <a:spcPct val="0"/>
              </a:spcBef>
            </a:pPr>
            <a:r>
              <a:rPr lang="en-US" sz="6750" b="1" u="none" strike="noStrike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WI-FI INDOOR LOCALIZATION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93988" y="5931605"/>
            <a:ext cx="7300024" cy="2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53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Team 8 | 23CSE301 Machine Learning Capstone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9042167"/>
            <a:ext cx="4179538" cy="408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64"/>
              </a:lnSpc>
              <a:spcBef>
                <a:spcPct val="0"/>
              </a:spcBef>
            </a:pPr>
            <a:r>
              <a:rPr lang="en-US" sz="3295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23CSE301 • TEAM 8</a:t>
            </a:r>
          </a:p>
        </p:txBody>
      </p:sp>
      <p:sp>
        <p:nvSpPr>
          <p:cNvPr id="7" name="AutoShape 7"/>
          <p:cNvSpPr/>
          <p:nvPr/>
        </p:nvSpPr>
        <p:spPr>
          <a:xfrm>
            <a:off x="5493988" y="9277350"/>
            <a:ext cx="9609889" cy="0"/>
          </a:xfrm>
          <a:prstGeom prst="line">
            <a:avLst/>
          </a:prstGeom>
          <a:ln w="38100" cap="flat">
            <a:solidFill>
              <a:srgbClr val="40359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607165">
            <a:off x="15656849" y="52641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607165" flipH="1" flipV="1">
            <a:off x="-1240501" y="-11493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660425" y="827502"/>
            <a:ext cx="11097256" cy="1391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0431"/>
              </a:lnSpc>
              <a:spcBef>
                <a:spcPct val="0"/>
              </a:spcBef>
            </a:pPr>
            <a:r>
              <a:rPr lang="en-US" sz="10227" b="1" u="none" strike="noStrike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REVIEW 2 SCOPE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451796" y="3026103"/>
            <a:ext cx="10967149" cy="467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90"/>
              </a:lnSpc>
              <a:spcBef>
                <a:spcPct val="0"/>
              </a:spcBef>
            </a:pPr>
            <a:r>
              <a:rPr lang="en-US" sz="3295" b="1" u="none" strike="noStrik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Project: Wi-Fi fingerprint-based indoor localization using machine learning.</a:t>
            </a:r>
          </a:p>
          <a:p>
            <a:pPr marL="0" lvl="0" indent="0" algn="ctr">
              <a:lnSpc>
                <a:spcPts val="3690"/>
              </a:lnSpc>
              <a:spcBef>
                <a:spcPct val="0"/>
              </a:spcBef>
            </a:pPr>
            <a:endParaRPr lang="en-US" sz="3295" b="1" u="none" strike="noStrike">
              <a:solidFill>
                <a:srgbClr val="40359F"/>
              </a:solidFill>
              <a:latin typeface="IBM Plex Sans Arabic Bold"/>
              <a:ea typeface="IBM Plex Sans Arabic Bold"/>
              <a:cs typeface="IBM Plex Sans Arabic Bold"/>
              <a:sym typeface="IBM Plex Sans Arabic Bold"/>
            </a:endParaRPr>
          </a:p>
          <a:p>
            <a:pPr marL="0" lvl="0" indent="0" algn="ctr">
              <a:lnSpc>
                <a:spcPts val="3690"/>
              </a:lnSpc>
              <a:spcBef>
                <a:spcPct val="0"/>
              </a:spcBef>
            </a:pPr>
            <a:r>
              <a:rPr lang="en-US" sz="3295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Focus: compare classifiers, evaluate cluster quality, interpret plots, and assess generalization.</a:t>
            </a:r>
          </a:p>
          <a:p>
            <a:pPr marL="0" lvl="0" indent="0" algn="ctr">
              <a:lnSpc>
                <a:spcPts val="3690"/>
              </a:lnSpc>
              <a:spcBef>
                <a:spcPct val="0"/>
              </a:spcBef>
            </a:pPr>
            <a:endParaRPr lang="en-US" sz="3295" u="none" strike="noStrike">
              <a:solidFill>
                <a:srgbClr val="40359F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algn="l">
              <a:lnSpc>
                <a:spcPts val="3690"/>
              </a:lnSpc>
              <a:spcBef>
                <a:spcPct val="0"/>
              </a:spcBef>
            </a:pPr>
            <a:r>
              <a:rPr lang="en-US" sz="3295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Team:</a:t>
            </a:r>
          </a:p>
          <a:p>
            <a:pPr marL="711405" lvl="1" indent="-355702" algn="l">
              <a:lnSpc>
                <a:spcPts val="3690"/>
              </a:lnSpc>
              <a:spcBef>
                <a:spcPct val="0"/>
              </a:spcBef>
              <a:buFont typeface="Arial"/>
              <a:buChar char="•"/>
            </a:pPr>
            <a:r>
              <a:rPr lang="en-US" sz="3295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K. Ganesh Giridhar (519),</a:t>
            </a:r>
          </a:p>
          <a:p>
            <a:pPr marL="711405" lvl="1" indent="-355702" algn="l">
              <a:lnSpc>
                <a:spcPts val="3690"/>
              </a:lnSpc>
              <a:spcBef>
                <a:spcPct val="0"/>
              </a:spcBef>
              <a:buFont typeface="Arial"/>
              <a:buChar char="•"/>
            </a:pPr>
            <a:r>
              <a:rPr lang="en-US" sz="3295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A. Suhas Reddy (503), </a:t>
            </a:r>
          </a:p>
          <a:p>
            <a:pPr marL="711405" lvl="1" indent="-355702" algn="l">
              <a:lnSpc>
                <a:spcPts val="3690"/>
              </a:lnSpc>
              <a:spcBef>
                <a:spcPct val="0"/>
              </a:spcBef>
              <a:buFont typeface="Arial"/>
              <a:buChar char="•"/>
            </a:pPr>
            <a:r>
              <a:rPr lang="en-US" sz="3295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G. R. Balaji (510).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9042167"/>
            <a:ext cx="4179538" cy="408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64"/>
              </a:lnSpc>
              <a:spcBef>
                <a:spcPct val="0"/>
              </a:spcBef>
            </a:pPr>
            <a:r>
              <a:rPr lang="en-US" sz="3295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23CSE301 • TEAM 8</a:t>
            </a:r>
          </a:p>
        </p:txBody>
      </p:sp>
      <p:sp>
        <p:nvSpPr>
          <p:cNvPr id="7" name="AutoShape 7"/>
          <p:cNvSpPr/>
          <p:nvPr/>
        </p:nvSpPr>
        <p:spPr>
          <a:xfrm>
            <a:off x="5493988" y="9277350"/>
            <a:ext cx="9609889" cy="0"/>
          </a:xfrm>
          <a:prstGeom prst="line">
            <a:avLst/>
          </a:prstGeom>
          <a:ln w="38100" cap="flat">
            <a:solidFill>
              <a:srgbClr val="40359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607165">
            <a:off x="15656849" y="52641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607165" flipH="1" flipV="1">
            <a:off x="-1240501" y="-11493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242307" y="458389"/>
            <a:ext cx="11097256" cy="2710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0431"/>
              </a:lnSpc>
              <a:spcBef>
                <a:spcPct val="0"/>
              </a:spcBef>
            </a:pPr>
            <a:r>
              <a:rPr lang="en-US" sz="10227" b="1" u="none" strike="noStrike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UJINDOORLOC DATASET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539773" y="3565631"/>
            <a:ext cx="6981301" cy="4448286"/>
            <a:chOff x="0" y="0"/>
            <a:chExt cx="1275638" cy="812800"/>
          </a:xfrm>
        </p:grpSpPr>
        <p:sp>
          <p:nvSpPr>
            <p:cNvPr id="6" name="Freeform 6" descr="Indoor Wi-Fi fingerprint localization illustration"/>
            <p:cNvSpPr/>
            <p:nvPr/>
          </p:nvSpPr>
          <p:spPr>
            <a:xfrm>
              <a:off x="0" y="0"/>
              <a:ext cx="1275638" cy="812800"/>
            </a:xfrm>
            <a:custGeom>
              <a:avLst/>
              <a:gdLst/>
              <a:ahLst/>
              <a:cxnLst/>
              <a:rect l="l" t="t" r="r" b="b"/>
              <a:pathLst>
                <a:path w="1275638" h="812800">
                  <a:moveTo>
                    <a:pt x="0" y="0"/>
                  </a:moveTo>
                  <a:lnTo>
                    <a:pt x="1275638" y="0"/>
                  </a:lnTo>
                  <a:lnTo>
                    <a:pt x="1275638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3"/>
              <a:stretch>
                <a:fillRect t="-1202" b="-1202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945154" y="3341765"/>
            <a:ext cx="7594618" cy="467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1405" lvl="1" indent="-355702" algn="l">
              <a:lnSpc>
                <a:spcPts val="3690"/>
              </a:lnSpc>
              <a:spcBef>
                <a:spcPct val="0"/>
              </a:spcBef>
              <a:buFont typeface="Arial"/>
              <a:buChar char="•"/>
            </a:pPr>
            <a:r>
              <a:rPr lang="en-US" sz="3295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19,937 training records • 520 original WAP RSSI features</a:t>
            </a:r>
          </a:p>
          <a:p>
            <a:pPr algn="l">
              <a:lnSpc>
                <a:spcPts val="3690"/>
              </a:lnSpc>
              <a:spcBef>
                <a:spcPct val="0"/>
              </a:spcBef>
            </a:pPr>
            <a:endParaRPr lang="en-US" sz="3295" u="none" strike="noStrike">
              <a:solidFill>
                <a:srgbClr val="40359F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marL="711405" lvl="1" indent="-355702" algn="l">
              <a:lnSpc>
                <a:spcPts val="3690"/>
              </a:lnSpc>
              <a:spcBef>
                <a:spcPct val="0"/>
              </a:spcBef>
              <a:buFont typeface="Arial"/>
              <a:buChar char="•"/>
            </a:pPr>
            <a:r>
              <a:rPr lang="en-US" sz="3295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+100 (not detected) → −105 dBm</a:t>
            </a:r>
          </a:p>
          <a:p>
            <a:pPr algn="l">
              <a:lnSpc>
                <a:spcPts val="3690"/>
              </a:lnSpc>
              <a:spcBef>
                <a:spcPct val="0"/>
              </a:spcBef>
            </a:pPr>
            <a:endParaRPr lang="en-US" sz="3295" u="none" strike="noStrike">
              <a:solidFill>
                <a:srgbClr val="40359F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marL="711405" lvl="1" indent="-355702" algn="l">
              <a:lnSpc>
                <a:spcPts val="3690"/>
              </a:lnSpc>
              <a:spcBef>
                <a:spcPct val="0"/>
              </a:spcBef>
              <a:buFont typeface="Arial"/>
              <a:buChar char="•"/>
            </a:pPr>
            <a:r>
              <a:rPr lang="en-US" sz="3295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Removed 55 zero-variance WAPs; retained 465 active WAPs</a:t>
            </a:r>
          </a:p>
          <a:p>
            <a:pPr algn="l">
              <a:lnSpc>
                <a:spcPts val="3690"/>
              </a:lnSpc>
              <a:spcBef>
                <a:spcPct val="0"/>
              </a:spcBef>
            </a:pPr>
            <a:endParaRPr lang="en-US" sz="3295" u="none" strike="noStrike">
              <a:solidFill>
                <a:srgbClr val="40359F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marL="711405" lvl="1" indent="-355702" algn="l">
              <a:lnSpc>
                <a:spcPts val="3690"/>
              </a:lnSpc>
              <a:spcBef>
                <a:spcPct val="0"/>
              </a:spcBef>
              <a:buFont typeface="Arial"/>
              <a:buChar char="•"/>
            </a:pPr>
            <a:r>
              <a:rPr lang="en-US" sz="3295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Added 5 RSSI aggregate features → 470 final features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9042167"/>
            <a:ext cx="4179538" cy="408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64"/>
              </a:lnSpc>
              <a:spcBef>
                <a:spcPct val="0"/>
              </a:spcBef>
            </a:pPr>
            <a:r>
              <a:rPr lang="en-US" sz="3295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23CSE301 • TEAM 8</a:t>
            </a:r>
          </a:p>
        </p:txBody>
      </p:sp>
      <p:sp>
        <p:nvSpPr>
          <p:cNvPr id="9" name="AutoShape 9"/>
          <p:cNvSpPr/>
          <p:nvPr/>
        </p:nvSpPr>
        <p:spPr>
          <a:xfrm>
            <a:off x="5493988" y="9277350"/>
            <a:ext cx="9609889" cy="0"/>
          </a:xfrm>
          <a:prstGeom prst="line">
            <a:avLst/>
          </a:prstGeom>
          <a:ln w="38100" cap="flat">
            <a:solidFill>
              <a:srgbClr val="40359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607165">
            <a:off x="15656849" y="52641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607165" flipH="1" flipV="1">
            <a:off x="-1240501" y="-11493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118469" y="662321"/>
            <a:ext cx="11097256" cy="2710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0431"/>
              </a:lnSpc>
              <a:spcBef>
                <a:spcPct val="0"/>
              </a:spcBef>
            </a:pPr>
            <a:r>
              <a:rPr lang="en-US" sz="10227" b="1" u="none" strike="noStrike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THREE ML TRACKS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518059" y="3900349"/>
            <a:ext cx="10855338" cy="93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90"/>
              </a:lnSpc>
              <a:spcBef>
                <a:spcPct val="0"/>
              </a:spcBef>
            </a:pPr>
            <a:r>
              <a:rPr lang="en-US" sz="3295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Regression estimates coordinates (X, Y) from Wi-Fi RSSI fingerprints.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864024" y="3772668"/>
            <a:ext cx="950189" cy="950189"/>
            <a:chOff x="0" y="0"/>
            <a:chExt cx="1266919" cy="1266919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1266919" cy="1266919"/>
              <a:chOff x="0" y="0"/>
              <a:chExt cx="812800" cy="8128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B7DE4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153345" y="187924"/>
              <a:ext cx="960229" cy="9672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255"/>
                </a:lnSpc>
              </a:pPr>
              <a:r>
                <a:rPr lang="en-US" sz="5152" b="1">
                  <a:solidFill>
                    <a:srgbClr val="F5F8F1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1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389672" y="6957183"/>
            <a:ext cx="10855338" cy="93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90"/>
              </a:lnSpc>
              <a:spcBef>
                <a:spcPct val="0"/>
              </a:spcBef>
            </a:pPr>
            <a:r>
              <a:rPr lang="en-US" sz="3295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Clustering learns RSSI structure without building/floor labels during fitting.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2864024" y="5400677"/>
            <a:ext cx="950189" cy="950189"/>
            <a:chOff x="0" y="0"/>
            <a:chExt cx="1266919" cy="1266919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1266919" cy="1266919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B7DE4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153345" y="187924"/>
              <a:ext cx="960229" cy="9672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255"/>
                </a:lnSpc>
              </a:pPr>
              <a:r>
                <a:rPr lang="en-US" sz="5152" b="1">
                  <a:solidFill>
                    <a:srgbClr val="F5F8F1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2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028700" y="9042167"/>
            <a:ext cx="4179538" cy="408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64"/>
              </a:lnSpc>
              <a:spcBef>
                <a:spcPct val="0"/>
              </a:spcBef>
            </a:pPr>
            <a:r>
              <a:rPr lang="en-US" sz="3295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23CSE301 • TEAM 8</a:t>
            </a:r>
          </a:p>
        </p:txBody>
      </p:sp>
      <p:sp>
        <p:nvSpPr>
          <p:cNvPr id="18" name="AutoShape 18"/>
          <p:cNvSpPr/>
          <p:nvPr/>
        </p:nvSpPr>
        <p:spPr>
          <a:xfrm>
            <a:off x="5493988" y="9277350"/>
            <a:ext cx="9609889" cy="0"/>
          </a:xfrm>
          <a:prstGeom prst="line">
            <a:avLst/>
          </a:prstGeom>
          <a:ln w="38100" cap="flat">
            <a:solidFill>
              <a:srgbClr val="40359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9" name="Group 19"/>
          <p:cNvGrpSpPr/>
          <p:nvPr/>
        </p:nvGrpSpPr>
        <p:grpSpPr>
          <a:xfrm>
            <a:off x="2864024" y="7027141"/>
            <a:ext cx="950189" cy="950189"/>
            <a:chOff x="0" y="0"/>
            <a:chExt cx="1266919" cy="1266919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1266919" cy="1266919"/>
              <a:chOff x="0" y="0"/>
              <a:chExt cx="812800" cy="8128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B7DE4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153345" y="187924"/>
              <a:ext cx="960229" cy="9672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255"/>
                </a:lnSpc>
              </a:pPr>
              <a:r>
                <a:rPr lang="en-US" sz="5152" b="1">
                  <a:solidFill>
                    <a:srgbClr val="F5F8F1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3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4518059" y="5429252"/>
            <a:ext cx="10855338" cy="93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90"/>
              </a:lnSpc>
              <a:spcBef>
                <a:spcPct val="0"/>
              </a:spcBef>
            </a:pPr>
            <a:r>
              <a:rPr lang="en-US" sz="3295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Classification predicts floor (0–4). </a:t>
            </a:r>
          </a:p>
          <a:p>
            <a:pPr marL="0" lvl="0" indent="0" algn="l">
              <a:lnSpc>
                <a:spcPts val="3690"/>
              </a:lnSpc>
              <a:spcBef>
                <a:spcPct val="0"/>
              </a:spcBef>
            </a:pPr>
            <a:endParaRPr lang="en-US" sz="3295" u="none" strike="noStrike">
              <a:solidFill>
                <a:srgbClr val="40359F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607165">
            <a:off x="15656849" y="52641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607165" flipH="1" flipV="1">
            <a:off x="-1240501" y="-11493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707711" y="633746"/>
            <a:ext cx="11097256" cy="2106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8160"/>
              </a:lnSpc>
              <a:spcBef>
                <a:spcPct val="0"/>
              </a:spcBef>
            </a:pPr>
            <a:r>
              <a:rPr lang="en-US" sz="8000" b="1" u="none" strike="noStrike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CLASSIFICATION — PART B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061294" y="3205196"/>
            <a:ext cx="5459537" cy="5102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9053" lvl="1" indent="-299526" algn="l">
              <a:lnSpc>
                <a:spcPts val="3107"/>
              </a:lnSpc>
              <a:spcBef>
                <a:spcPct val="0"/>
              </a:spcBef>
              <a:buFont typeface="Arial"/>
              <a:buChar char="•"/>
            </a:pPr>
            <a:r>
              <a:rPr lang="en-US" sz="2774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Random Forest: averages many decision trees; tuned setup used 200 trees and max_depth=25.</a:t>
            </a:r>
          </a:p>
          <a:p>
            <a:pPr algn="l">
              <a:lnSpc>
                <a:spcPts val="3107"/>
              </a:lnSpc>
              <a:spcBef>
                <a:spcPct val="0"/>
              </a:spcBef>
            </a:pPr>
            <a:endParaRPr lang="en-US" sz="2774" u="none" strike="noStrike">
              <a:solidFill>
                <a:srgbClr val="40359F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marL="599053" lvl="1" indent="-299526" algn="l">
              <a:lnSpc>
                <a:spcPts val="3107"/>
              </a:lnSpc>
              <a:spcBef>
                <a:spcPct val="0"/>
              </a:spcBef>
              <a:buFont typeface="Arial"/>
              <a:buChar char="•"/>
            </a:pPr>
            <a:r>
              <a:rPr lang="en-US" sz="2774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Gradient Boosting: sequential trees correct earlier errors.</a:t>
            </a:r>
          </a:p>
          <a:p>
            <a:pPr algn="l">
              <a:lnSpc>
                <a:spcPts val="3107"/>
              </a:lnSpc>
              <a:spcBef>
                <a:spcPct val="0"/>
              </a:spcBef>
            </a:pPr>
            <a:endParaRPr lang="en-US" sz="2774" u="none" strike="noStrike">
              <a:solidFill>
                <a:srgbClr val="40359F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marL="599053" lvl="1" indent="-299526" algn="l">
              <a:lnSpc>
                <a:spcPts val="3107"/>
              </a:lnSpc>
              <a:spcBef>
                <a:spcPct val="0"/>
              </a:spcBef>
              <a:buFont typeface="Arial"/>
              <a:buChar char="•"/>
            </a:pPr>
            <a:r>
              <a:rPr lang="en-US" sz="2774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Bagging: trains learners on bootstrap samples.</a:t>
            </a:r>
          </a:p>
          <a:p>
            <a:pPr algn="l">
              <a:lnSpc>
                <a:spcPts val="3107"/>
              </a:lnSpc>
              <a:spcBef>
                <a:spcPct val="0"/>
              </a:spcBef>
            </a:pPr>
            <a:endParaRPr lang="en-US" sz="2774" u="none" strike="noStrike">
              <a:solidFill>
                <a:srgbClr val="40359F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marL="599053" lvl="1" indent="-299526" algn="l">
              <a:lnSpc>
                <a:spcPts val="3107"/>
              </a:lnSpc>
              <a:spcBef>
                <a:spcPct val="0"/>
              </a:spcBef>
              <a:buFont typeface="Arial"/>
              <a:buChar char="•"/>
            </a:pPr>
            <a:r>
              <a:rPr lang="en-US" sz="2774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AdaBoost: reweights hard-to-classify records.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770423" y="2897522"/>
            <a:ext cx="950189" cy="950189"/>
            <a:chOff x="0" y="0"/>
            <a:chExt cx="1266919" cy="1266919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1266919" cy="1266919"/>
              <a:chOff x="0" y="0"/>
              <a:chExt cx="812800" cy="8128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B7DE4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153345" y="187924"/>
              <a:ext cx="960229" cy="9672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255"/>
                </a:lnSpc>
              </a:pPr>
              <a:r>
                <a:rPr lang="en-US" sz="5152" b="1">
                  <a:solidFill>
                    <a:srgbClr val="F5F8F1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1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1227317" y="3553379"/>
            <a:ext cx="5655121" cy="3199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52"/>
              </a:lnSpc>
              <a:spcBef>
                <a:spcPct val="0"/>
              </a:spcBef>
            </a:pPr>
            <a:r>
              <a:rPr lang="en-US" sz="2814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MLP: dense neural network that learns nonlinear RSSI patterns.</a:t>
            </a:r>
          </a:p>
          <a:p>
            <a:pPr marL="0" lvl="0" indent="0" algn="l">
              <a:lnSpc>
                <a:spcPts val="3152"/>
              </a:lnSpc>
              <a:spcBef>
                <a:spcPct val="0"/>
              </a:spcBef>
            </a:pPr>
            <a:endParaRPr lang="en-US" sz="2814" u="none" strike="noStrike">
              <a:solidFill>
                <a:srgbClr val="40359F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marL="0" lvl="0" indent="0" algn="l">
              <a:lnSpc>
                <a:spcPts val="3152"/>
              </a:lnSpc>
              <a:spcBef>
                <a:spcPct val="0"/>
              </a:spcBef>
            </a:pPr>
            <a:r>
              <a:rPr lang="en-US" sz="2814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Internal test: </a:t>
            </a:r>
          </a:p>
          <a:p>
            <a:pPr marL="0" lvl="0" indent="0" algn="l">
              <a:lnSpc>
                <a:spcPts val="3152"/>
              </a:lnSpc>
              <a:spcBef>
                <a:spcPct val="0"/>
              </a:spcBef>
            </a:pPr>
            <a:r>
              <a:rPr lang="en-US" sz="2814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weighted F1 0.9932 (AUC 0.9996).</a:t>
            </a:r>
          </a:p>
          <a:p>
            <a:pPr marL="0" lvl="0" indent="0" algn="l">
              <a:lnSpc>
                <a:spcPts val="3152"/>
              </a:lnSpc>
              <a:spcBef>
                <a:spcPct val="0"/>
              </a:spcBef>
            </a:pPr>
            <a:r>
              <a:rPr lang="en-US" sz="2814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Tuned Random Forest weighted F1 0.9922.</a:t>
            </a:r>
          </a:p>
          <a:p>
            <a:pPr marL="0" lvl="0" indent="0" algn="l">
              <a:lnSpc>
                <a:spcPts val="3152"/>
              </a:lnSpc>
              <a:spcBef>
                <a:spcPct val="0"/>
              </a:spcBef>
            </a:pPr>
            <a:endParaRPr lang="en-US" sz="2814" u="none" strike="noStrike">
              <a:solidFill>
                <a:srgbClr val="40359F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9934228" y="2897522"/>
            <a:ext cx="950189" cy="950189"/>
            <a:chOff x="0" y="0"/>
            <a:chExt cx="1266919" cy="1266919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1266919" cy="1266919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B7DE4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153345" y="187924"/>
              <a:ext cx="960229" cy="9672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255"/>
                </a:lnSpc>
              </a:pPr>
              <a:r>
                <a:rPr lang="en-US" sz="5152" b="1">
                  <a:solidFill>
                    <a:srgbClr val="F5F8F1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2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028700" y="9042167"/>
            <a:ext cx="4179538" cy="408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64"/>
              </a:lnSpc>
              <a:spcBef>
                <a:spcPct val="0"/>
              </a:spcBef>
            </a:pPr>
            <a:r>
              <a:rPr lang="en-US" sz="3295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23CSE301 • TEAM 8</a:t>
            </a:r>
          </a:p>
        </p:txBody>
      </p:sp>
      <p:sp>
        <p:nvSpPr>
          <p:cNvPr id="18" name="AutoShape 18"/>
          <p:cNvSpPr/>
          <p:nvPr/>
        </p:nvSpPr>
        <p:spPr>
          <a:xfrm>
            <a:off x="5493988" y="9277350"/>
            <a:ext cx="9609889" cy="0"/>
          </a:xfrm>
          <a:prstGeom prst="line">
            <a:avLst/>
          </a:prstGeom>
          <a:ln w="38100" cap="flat">
            <a:solidFill>
              <a:srgbClr val="40359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607165">
            <a:off x="15656849" y="52641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607165" flipH="1" flipV="1">
            <a:off x="-1240501" y="-11493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196755" y="1398009"/>
            <a:ext cx="16762253" cy="1229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9283"/>
              </a:lnSpc>
              <a:spcBef>
                <a:spcPct val="0"/>
              </a:spcBef>
            </a:pPr>
            <a:r>
              <a:rPr lang="en-US" sz="9101" b="1" u="none" strike="noStrike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CLASSIFIER PERFORMANCE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93644" y="3055455"/>
            <a:ext cx="5387539" cy="5672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691"/>
              </a:lnSpc>
              <a:spcBef>
                <a:spcPct val="0"/>
              </a:spcBef>
            </a:pPr>
            <a:r>
              <a:rPr lang="en-US" sz="2402" b="1" u="none" strike="noStrik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Top internal test models:</a:t>
            </a:r>
          </a:p>
          <a:p>
            <a:pPr marL="0" lvl="0" indent="0" algn="just">
              <a:lnSpc>
                <a:spcPts val="2691"/>
              </a:lnSpc>
              <a:spcBef>
                <a:spcPct val="0"/>
              </a:spcBef>
            </a:pPr>
            <a:endParaRPr lang="en-US" sz="2402" b="1" u="none" strike="noStrike">
              <a:solidFill>
                <a:srgbClr val="40359F"/>
              </a:solidFill>
              <a:latin typeface="IBM Plex Sans Arabic Bold"/>
              <a:ea typeface="IBM Plex Sans Arabic Bold"/>
              <a:cs typeface="IBM Plex Sans Arabic Bold"/>
              <a:sym typeface="IBM Plex Sans Arabic Bold"/>
            </a:endParaRPr>
          </a:p>
          <a:p>
            <a:pPr marL="0" lvl="0" indent="0" algn="just">
              <a:lnSpc>
                <a:spcPts val="2691"/>
              </a:lnSpc>
              <a:spcBef>
                <a:spcPct val="0"/>
              </a:spcBef>
            </a:pPr>
            <a:r>
              <a:rPr lang="en-US" sz="2402" b="1" u="none" strike="noStrik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SVM (RBF) — </a:t>
            </a:r>
          </a:p>
          <a:p>
            <a:pPr marL="518751" lvl="1" indent="-259376" algn="l">
              <a:lnSpc>
                <a:spcPts val="2691"/>
              </a:lnSpc>
              <a:spcBef>
                <a:spcPct val="0"/>
              </a:spcBef>
              <a:buFont typeface="Arial"/>
              <a:buChar char="•"/>
            </a:pPr>
            <a:r>
              <a:rPr lang="en-US" sz="2402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weighted F1 </a:t>
            </a:r>
          </a:p>
          <a:p>
            <a:pPr marL="518751" lvl="1" indent="-259376" algn="l">
              <a:lnSpc>
                <a:spcPts val="2691"/>
              </a:lnSpc>
              <a:spcBef>
                <a:spcPct val="0"/>
              </a:spcBef>
              <a:buFont typeface="Arial"/>
              <a:buChar char="•"/>
            </a:pPr>
            <a:r>
              <a:rPr lang="en-US" sz="2402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0.9937, AUC 0.9989</a:t>
            </a:r>
          </a:p>
          <a:p>
            <a:pPr marL="0" lvl="0" indent="0" algn="just">
              <a:lnSpc>
                <a:spcPts val="2691"/>
              </a:lnSpc>
              <a:spcBef>
                <a:spcPct val="0"/>
              </a:spcBef>
            </a:pPr>
            <a:endParaRPr lang="en-US" sz="2402" u="none" strike="noStrike">
              <a:solidFill>
                <a:srgbClr val="40359F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marL="0" lvl="0" indent="0" algn="just">
              <a:lnSpc>
                <a:spcPts val="2691"/>
              </a:lnSpc>
              <a:spcBef>
                <a:spcPct val="0"/>
              </a:spcBef>
            </a:pPr>
            <a:r>
              <a:rPr lang="en-US" sz="2402" b="1" u="none" strike="noStrik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MLP— </a:t>
            </a:r>
          </a:p>
          <a:p>
            <a:pPr marL="518751" lvl="1" indent="-259376" algn="l">
              <a:lnSpc>
                <a:spcPts val="2691"/>
              </a:lnSpc>
              <a:spcBef>
                <a:spcPct val="0"/>
              </a:spcBef>
              <a:buFont typeface="Arial"/>
              <a:buChar char="•"/>
            </a:pPr>
            <a:r>
              <a:rPr lang="en-US" sz="2402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weighted F1 0.9932,</a:t>
            </a:r>
          </a:p>
          <a:p>
            <a:pPr marL="518751" lvl="1" indent="-259376" algn="l">
              <a:lnSpc>
                <a:spcPts val="2691"/>
              </a:lnSpc>
              <a:spcBef>
                <a:spcPct val="0"/>
              </a:spcBef>
              <a:buFont typeface="Arial"/>
              <a:buChar char="•"/>
            </a:pPr>
            <a:r>
              <a:rPr lang="en-US" sz="2402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AUC 0.9996</a:t>
            </a:r>
          </a:p>
          <a:p>
            <a:pPr marL="0" lvl="0" indent="0" algn="just">
              <a:lnSpc>
                <a:spcPts val="2691"/>
              </a:lnSpc>
              <a:spcBef>
                <a:spcPct val="0"/>
              </a:spcBef>
            </a:pPr>
            <a:endParaRPr lang="en-US" sz="2402" u="none" strike="noStrike">
              <a:solidFill>
                <a:srgbClr val="40359F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marL="0" lvl="0" indent="0" algn="just">
              <a:lnSpc>
                <a:spcPts val="2691"/>
              </a:lnSpc>
              <a:spcBef>
                <a:spcPct val="0"/>
              </a:spcBef>
            </a:pPr>
            <a:r>
              <a:rPr lang="en-US" sz="2402" b="1" u="none" strike="noStrik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Gradient Boosting — </a:t>
            </a:r>
          </a:p>
          <a:p>
            <a:pPr marL="518751" lvl="1" indent="-259376" algn="l">
              <a:lnSpc>
                <a:spcPts val="2691"/>
              </a:lnSpc>
              <a:spcBef>
                <a:spcPct val="0"/>
              </a:spcBef>
              <a:buFont typeface="Arial"/>
              <a:buChar char="•"/>
            </a:pPr>
            <a:r>
              <a:rPr lang="en-US" sz="2402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weighted F1 0.9925,</a:t>
            </a:r>
          </a:p>
          <a:p>
            <a:pPr marL="518751" lvl="1" indent="-259376" algn="l">
              <a:lnSpc>
                <a:spcPts val="2691"/>
              </a:lnSpc>
              <a:spcBef>
                <a:spcPct val="0"/>
              </a:spcBef>
              <a:buFont typeface="Arial"/>
              <a:buChar char="•"/>
            </a:pPr>
            <a:r>
              <a:rPr lang="en-US" sz="2402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AUC 0.9997</a:t>
            </a:r>
          </a:p>
          <a:p>
            <a:pPr marL="0" lvl="0" indent="0" algn="just">
              <a:lnSpc>
                <a:spcPts val="2691"/>
              </a:lnSpc>
              <a:spcBef>
                <a:spcPct val="0"/>
              </a:spcBef>
            </a:pPr>
            <a:endParaRPr lang="en-US" sz="2402" u="none" strike="noStrike">
              <a:solidFill>
                <a:srgbClr val="40359F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marL="0" lvl="0" indent="0" algn="just">
              <a:lnSpc>
                <a:spcPts val="2691"/>
              </a:lnSpc>
              <a:spcBef>
                <a:spcPct val="0"/>
              </a:spcBef>
            </a:pPr>
            <a:r>
              <a:rPr lang="en-US" sz="2402" b="1" u="none" strike="noStrik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Tuned Random Forest — </a:t>
            </a:r>
          </a:p>
          <a:p>
            <a:pPr marL="518751" lvl="1" indent="-259376" algn="l">
              <a:lnSpc>
                <a:spcPts val="2691"/>
              </a:lnSpc>
              <a:spcBef>
                <a:spcPct val="0"/>
              </a:spcBef>
              <a:buFont typeface="Arial"/>
              <a:buChar char="•"/>
            </a:pPr>
            <a:r>
              <a:rPr lang="en-US" sz="2402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weighted F1 0.9922</a:t>
            </a:r>
          </a:p>
          <a:p>
            <a:pPr marL="0" lvl="0" indent="0" algn="just">
              <a:lnSpc>
                <a:spcPts val="2691"/>
              </a:lnSpc>
              <a:spcBef>
                <a:spcPct val="0"/>
              </a:spcBef>
            </a:pPr>
            <a:endParaRPr lang="en-US" sz="2402" u="none" strike="noStrike">
              <a:solidFill>
                <a:srgbClr val="40359F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9042167"/>
            <a:ext cx="4179538" cy="408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64"/>
              </a:lnSpc>
              <a:spcBef>
                <a:spcPct val="0"/>
              </a:spcBef>
            </a:pPr>
            <a:r>
              <a:rPr lang="en-US" sz="3295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23CSE301 • TEAM 8</a:t>
            </a:r>
          </a:p>
        </p:txBody>
      </p:sp>
      <p:sp>
        <p:nvSpPr>
          <p:cNvPr id="7" name="AutoShape 7"/>
          <p:cNvSpPr/>
          <p:nvPr/>
        </p:nvSpPr>
        <p:spPr>
          <a:xfrm>
            <a:off x="5493988" y="9277350"/>
            <a:ext cx="9609889" cy="0"/>
          </a:xfrm>
          <a:prstGeom prst="line">
            <a:avLst/>
          </a:prstGeom>
          <a:ln w="38100" cap="flat">
            <a:solidFill>
              <a:srgbClr val="40359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 descr="Weighted F1 comparison of indoor localization classifiers"/>
          <p:cNvSpPr/>
          <p:nvPr/>
        </p:nvSpPr>
        <p:spPr>
          <a:xfrm>
            <a:off x="7675399" y="3302639"/>
            <a:ext cx="8795842" cy="5145568"/>
          </a:xfrm>
          <a:custGeom>
            <a:avLst/>
            <a:gdLst/>
            <a:ahLst/>
            <a:cxnLst/>
            <a:rect l="l" t="t" r="r" b="b"/>
            <a:pathLst>
              <a:path w="8795842" h="5145568">
                <a:moveTo>
                  <a:pt x="0" y="0"/>
                </a:moveTo>
                <a:lnTo>
                  <a:pt x="8795842" y="0"/>
                </a:lnTo>
                <a:lnTo>
                  <a:pt x="8795842" y="5145568"/>
                </a:lnTo>
                <a:lnTo>
                  <a:pt x="0" y="51455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607165">
            <a:off x="15656849" y="52641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607165" flipH="1" flipV="1">
            <a:off x="-1240501" y="-11493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144338" y="463827"/>
            <a:ext cx="12959539" cy="2710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0431"/>
              </a:lnSpc>
              <a:spcBef>
                <a:spcPct val="0"/>
              </a:spcBef>
            </a:pPr>
            <a:r>
              <a:rPr lang="en-US" sz="10227" b="1" u="none" strike="noStrike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CLUSTER INTERPRETATION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18843" y="3765909"/>
            <a:ext cx="6933483" cy="4531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86"/>
              </a:lnSpc>
              <a:spcBef>
                <a:spcPct val="0"/>
              </a:spcBef>
            </a:pPr>
            <a:r>
              <a:rPr lang="en-US" sz="2666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Building labels were used only after fitting.</a:t>
            </a:r>
          </a:p>
          <a:p>
            <a:pPr marL="0" lvl="0" indent="0" algn="l">
              <a:lnSpc>
                <a:spcPts val="2986"/>
              </a:lnSpc>
              <a:spcBef>
                <a:spcPct val="0"/>
              </a:spcBef>
            </a:pPr>
            <a:endParaRPr lang="en-US" sz="2666" u="none" strike="noStrike">
              <a:solidFill>
                <a:srgbClr val="40359F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marL="0" lvl="0" indent="0" algn="l">
              <a:lnSpc>
                <a:spcPts val="2986"/>
              </a:lnSpc>
              <a:spcBef>
                <a:spcPct val="0"/>
              </a:spcBef>
            </a:pPr>
            <a:r>
              <a:rPr lang="en-US" sz="2666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Cluster 0: 344 records, all Building 1.</a:t>
            </a:r>
          </a:p>
          <a:p>
            <a:pPr marL="0" lvl="0" indent="0" algn="l">
              <a:lnSpc>
                <a:spcPts val="2986"/>
              </a:lnSpc>
              <a:spcBef>
                <a:spcPct val="0"/>
              </a:spcBef>
            </a:pPr>
            <a:r>
              <a:rPr lang="en-US" sz="2666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Cluster 1: 9,314 records, all Building 2.</a:t>
            </a:r>
          </a:p>
          <a:p>
            <a:pPr marL="0" lvl="0" indent="0" algn="l">
              <a:lnSpc>
                <a:spcPts val="2986"/>
              </a:lnSpc>
              <a:spcBef>
                <a:spcPct val="0"/>
              </a:spcBef>
            </a:pPr>
            <a:r>
              <a:rPr lang="en-US" sz="2666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Cluster 2 is mixed:</a:t>
            </a:r>
          </a:p>
          <a:p>
            <a:pPr marL="0" lvl="0" indent="0" algn="l">
              <a:lnSpc>
                <a:spcPts val="2986"/>
              </a:lnSpc>
              <a:spcBef>
                <a:spcPct val="0"/>
              </a:spcBef>
            </a:pPr>
            <a:endParaRPr lang="en-US" sz="2666" u="none" strike="noStrike">
              <a:solidFill>
                <a:srgbClr val="40359F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marL="0" lvl="0" indent="0" algn="l">
              <a:lnSpc>
                <a:spcPts val="2986"/>
              </a:lnSpc>
              <a:spcBef>
                <a:spcPct val="0"/>
              </a:spcBef>
            </a:pPr>
            <a:r>
              <a:rPr lang="en-US" sz="2666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Building 0 = 5,249;</a:t>
            </a:r>
          </a:p>
          <a:p>
            <a:pPr marL="0" lvl="0" indent="0" algn="l">
              <a:lnSpc>
                <a:spcPts val="2986"/>
              </a:lnSpc>
              <a:spcBef>
                <a:spcPct val="0"/>
              </a:spcBef>
            </a:pPr>
            <a:r>
              <a:rPr lang="en-US" sz="2666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Building 1 = 4,852; </a:t>
            </a:r>
          </a:p>
          <a:p>
            <a:pPr marL="0" lvl="0" indent="0" algn="l">
              <a:lnSpc>
                <a:spcPts val="2986"/>
              </a:lnSpc>
              <a:spcBef>
                <a:spcPct val="0"/>
              </a:spcBef>
            </a:pPr>
            <a:r>
              <a:rPr lang="en-US" sz="2666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Building 2 = 178.</a:t>
            </a:r>
          </a:p>
          <a:p>
            <a:pPr marL="0" lvl="0" indent="0" algn="l">
              <a:lnSpc>
                <a:spcPts val="2986"/>
              </a:lnSpc>
              <a:spcBef>
                <a:spcPct val="0"/>
              </a:spcBef>
            </a:pPr>
            <a:endParaRPr lang="en-US" sz="2666" u="none" strike="noStrike">
              <a:solidFill>
                <a:srgbClr val="40359F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marL="0" lvl="0" indent="0" algn="l">
              <a:lnSpc>
                <a:spcPts val="2986"/>
              </a:lnSpc>
              <a:spcBef>
                <a:spcPct val="0"/>
              </a:spcBef>
            </a:pPr>
            <a:r>
              <a:rPr lang="en-US" sz="2666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This is not a perfect building mapping; one cluster mixes buildings substantially.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9042167"/>
            <a:ext cx="4179538" cy="408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64"/>
              </a:lnSpc>
              <a:spcBef>
                <a:spcPct val="0"/>
              </a:spcBef>
            </a:pPr>
            <a:r>
              <a:rPr lang="en-US" sz="3295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23CSE301 • TEAM 8</a:t>
            </a:r>
          </a:p>
        </p:txBody>
      </p:sp>
      <p:sp>
        <p:nvSpPr>
          <p:cNvPr id="7" name="AutoShape 7"/>
          <p:cNvSpPr/>
          <p:nvPr/>
        </p:nvSpPr>
        <p:spPr>
          <a:xfrm>
            <a:off x="5493988" y="9277350"/>
            <a:ext cx="9609889" cy="0"/>
          </a:xfrm>
          <a:prstGeom prst="line">
            <a:avLst/>
          </a:prstGeom>
          <a:ln w="38100" cap="flat">
            <a:solidFill>
              <a:srgbClr val="40359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 descr="Heatmap comparing K-Means clusters with building labels after fitting"/>
          <p:cNvSpPr/>
          <p:nvPr/>
        </p:nvSpPr>
        <p:spPr>
          <a:xfrm>
            <a:off x="8984806" y="3968734"/>
            <a:ext cx="6371266" cy="4381471"/>
          </a:xfrm>
          <a:custGeom>
            <a:avLst/>
            <a:gdLst/>
            <a:ahLst/>
            <a:cxnLst/>
            <a:rect l="l" t="t" r="r" b="b"/>
            <a:pathLst>
              <a:path w="6371266" h="4381471">
                <a:moveTo>
                  <a:pt x="0" y="0"/>
                </a:moveTo>
                <a:lnTo>
                  <a:pt x="6371266" y="0"/>
                </a:lnTo>
                <a:lnTo>
                  <a:pt x="6371266" y="4381471"/>
                </a:lnTo>
                <a:lnTo>
                  <a:pt x="0" y="43814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5" r="-105"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607165">
            <a:off x="15849430" y="52641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607165" flipH="1" flipV="1">
            <a:off x="-1047920" y="-11493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847076" y="1322072"/>
            <a:ext cx="15604805" cy="1391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0431"/>
              </a:lnSpc>
              <a:spcBef>
                <a:spcPct val="0"/>
              </a:spcBef>
            </a:pPr>
            <a:r>
              <a:rPr lang="en-US" sz="10227" b="1" u="none" strike="noStrike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K-MEANS: CHOOSING K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06954" y="3718502"/>
            <a:ext cx="6000065" cy="4199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50"/>
              </a:lnSpc>
              <a:spcBef>
                <a:spcPct val="0"/>
              </a:spcBef>
            </a:pPr>
            <a:r>
              <a:rPr lang="en-US" sz="2723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Elbow region: around k = 3–5.</a:t>
            </a:r>
          </a:p>
          <a:p>
            <a:pPr marL="0" lvl="0" indent="0" algn="l">
              <a:lnSpc>
                <a:spcPts val="3050"/>
              </a:lnSpc>
              <a:spcBef>
                <a:spcPct val="0"/>
              </a:spcBef>
            </a:pPr>
            <a:endParaRPr lang="en-US" sz="2723" u="none" strike="noStrike">
              <a:solidFill>
                <a:srgbClr val="40359F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marL="0" lvl="0" indent="0" algn="l">
              <a:lnSpc>
                <a:spcPts val="3050"/>
              </a:lnSpc>
              <a:spcBef>
                <a:spcPct val="0"/>
              </a:spcBef>
            </a:pPr>
            <a:r>
              <a:rPr lang="en-US" sz="2723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For k ≥ 3, silhouette is generally low, indicating overlapping clusters.</a:t>
            </a:r>
          </a:p>
          <a:p>
            <a:pPr marL="0" lvl="0" indent="0" algn="l">
              <a:lnSpc>
                <a:spcPts val="3050"/>
              </a:lnSpc>
              <a:spcBef>
                <a:spcPct val="0"/>
              </a:spcBef>
            </a:pPr>
            <a:endParaRPr lang="en-US" sz="2723" u="none" strike="noStrike">
              <a:solidFill>
                <a:srgbClr val="40359F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marL="0" lvl="0" indent="0" algn="l">
              <a:lnSpc>
                <a:spcPts val="3050"/>
              </a:lnSpc>
              <a:spcBef>
                <a:spcPct val="0"/>
              </a:spcBef>
            </a:pPr>
            <a:r>
              <a:rPr lang="en-US" sz="2723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Among tested multi-cluster runs, K-Means k=5 had the highest silhouette (0.0883) and lowest DB (2.9513).</a:t>
            </a:r>
          </a:p>
          <a:p>
            <a:pPr marL="0" lvl="0" indent="0" algn="l">
              <a:lnSpc>
                <a:spcPts val="3050"/>
              </a:lnSpc>
              <a:spcBef>
                <a:spcPct val="0"/>
              </a:spcBef>
            </a:pPr>
            <a:endParaRPr lang="en-US" sz="2723" u="none" strike="noStrike">
              <a:solidFill>
                <a:srgbClr val="40359F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marL="0" lvl="0" indent="0" algn="l">
              <a:lnSpc>
                <a:spcPts val="3050"/>
              </a:lnSpc>
              <a:spcBef>
                <a:spcPct val="0"/>
              </a:spcBef>
            </a:pPr>
            <a:r>
              <a:rPr lang="en-US" sz="2723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The first two PCA components explain only 10.50% of variance.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21281" y="9042167"/>
            <a:ext cx="4179538" cy="408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64"/>
              </a:lnSpc>
              <a:spcBef>
                <a:spcPct val="0"/>
              </a:spcBef>
            </a:pPr>
            <a:r>
              <a:rPr lang="en-US" sz="3295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23CSE301 • TEAM 8</a:t>
            </a:r>
          </a:p>
        </p:txBody>
      </p:sp>
      <p:sp>
        <p:nvSpPr>
          <p:cNvPr id="7" name="AutoShape 7"/>
          <p:cNvSpPr/>
          <p:nvPr/>
        </p:nvSpPr>
        <p:spPr>
          <a:xfrm>
            <a:off x="5686569" y="9277350"/>
            <a:ext cx="9609889" cy="0"/>
          </a:xfrm>
          <a:prstGeom prst="line">
            <a:avLst/>
          </a:prstGeom>
          <a:ln w="38100" cap="flat">
            <a:solidFill>
              <a:srgbClr val="40359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 descr="K-Means elbow and silhouette analysis for choosing cluster count"/>
          <p:cNvSpPr/>
          <p:nvPr/>
        </p:nvSpPr>
        <p:spPr>
          <a:xfrm>
            <a:off x="7974400" y="3462720"/>
            <a:ext cx="9089459" cy="5101459"/>
          </a:xfrm>
          <a:custGeom>
            <a:avLst/>
            <a:gdLst/>
            <a:ahLst/>
            <a:cxnLst/>
            <a:rect l="l" t="t" r="r" b="b"/>
            <a:pathLst>
              <a:path w="9089459" h="5101459">
                <a:moveTo>
                  <a:pt x="0" y="0"/>
                </a:moveTo>
                <a:lnTo>
                  <a:pt x="9089459" y="0"/>
                </a:lnTo>
                <a:lnTo>
                  <a:pt x="9089459" y="5101459"/>
                </a:lnTo>
                <a:lnTo>
                  <a:pt x="0" y="51014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1" r="-111"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607165">
            <a:off x="15656849" y="52641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607165" flipH="1" flipV="1">
            <a:off x="-1240501" y="-11493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845525" y="1645720"/>
            <a:ext cx="15243237" cy="1391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0431"/>
              </a:lnSpc>
              <a:spcBef>
                <a:spcPct val="0"/>
              </a:spcBef>
            </a:pPr>
            <a:r>
              <a:rPr lang="en-US" sz="10227" b="1" u="none" strike="noStrike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CLUSTER METRICS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2914603" y="4521834"/>
            <a:ext cx="950189" cy="95018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B7DE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518059" y="3774213"/>
            <a:ext cx="10855338" cy="1871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90"/>
              </a:lnSpc>
              <a:spcBef>
                <a:spcPct val="0"/>
              </a:spcBef>
            </a:pPr>
            <a:r>
              <a:rPr lang="en-US" sz="3295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K-MEANS</a:t>
            </a:r>
          </a:p>
          <a:p>
            <a:pPr marL="0" lvl="0" indent="0" algn="l">
              <a:lnSpc>
                <a:spcPts val="3690"/>
              </a:lnSpc>
              <a:spcBef>
                <a:spcPct val="0"/>
              </a:spcBef>
            </a:pPr>
            <a:r>
              <a:rPr lang="en-US" sz="3295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k=3: Silhouette 0.0684 | DB 3.2018 | CH 958.62</a:t>
            </a:r>
          </a:p>
          <a:p>
            <a:pPr marL="0" lvl="0" indent="0" algn="l">
              <a:lnSpc>
                <a:spcPts val="3690"/>
              </a:lnSpc>
              <a:spcBef>
                <a:spcPct val="0"/>
              </a:spcBef>
            </a:pPr>
            <a:r>
              <a:rPr lang="en-US" sz="3295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k=5: Silhouette 0.0883 | DB 2.9513 | CH 789.03</a:t>
            </a:r>
          </a:p>
          <a:p>
            <a:pPr marL="0" lvl="0" indent="0" algn="l">
              <a:lnSpc>
                <a:spcPts val="3690"/>
              </a:lnSpc>
              <a:spcBef>
                <a:spcPct val="0"/>
              </a:spcBef>
            </a:pPr>
            <a:r>
              <a:rPr lang="en-US" sz="3295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k=5 improves silhouette and DB; CH is higher at k=3.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29612" y="4681827"/>
            <a:ext cx="720172" cy="706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55"/>
              </a:lnSpc>
            </a:pPr>
            <a:r>
              <a:rPr lang="en-US" sz="5152" b="1">
                <a:solidFill>
                  <a:srgbClr val="F5F8F1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1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2914603" y="6825960"/>
            <a:ext cx="950189" cy="950189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B7DE4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4518059" y="6379441"/>
            <a:ext cx="10855338" cy="1871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90"/>
              </a:lnSpc>
              <a:spcBef>
                <a:spcPct val="0"/>
              </a:spcBef>
            </a:pPr>
            <a:r>
              <a:rPr lang="en-US" sz="3295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AGGLOMERATIVE WARD</a:t>
            </a:r>
          </a:p>
          <a:p>
            <a:pPr marL="0" lvl="0" indent="0" algn="l">
              <a:lnSpc>
                <a:spcPts val="3690"/>
              </a:lnSpc>
              <a:spcBef>
                <a:spcPct val="0"/>
              </a:spcBef>
            </a:pPr>
            <a:r>
              <a:rPr lang="en-US" sz="3295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k=3: Silhouette 0.0670 | DB 3.1815 | CH 936.98</a:t>
            </a:r>
          </a:p>
          <a:p>
            <a:pPr marL="0" lvl="0" indent="0" algn="l">
              <a:lnSpc>
                <a:spcPts val="3690"/>
              </a:lnSpc>
              <a:spcBef>
                <a:spcPct val="0"/>
              </a:spcBef>
            </a:pPr>
            <a:r>
              <a:rPr lang="en-US" sz="3295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k=5: Silhouette 0.0784 | DB 2.9978 | CH 769.54</a:t>
            </a:r>
          </a:p>
          <a:p>
            <a:pPr marL="0" lvl="0" indent="0" algn="l">
              <a:lnSpc>
                <a:spcPts val="3690"/>
              </a:lnSpc>
              <a:spcBef>
                <a:spcPct val="0"/>
              </a:spcBef>
            </a:pPr>
            <a:r>
              <a:rPr lang="en-US" sz="3295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Scores indicate weak separation across these runs.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029612" y="6985953"/>
            <a:ext cx="720172" cy="706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55"/>
              </a:lnSpc>
            </a:pPr>
            <a:r>
              <a:rPr lang="en-US" sz="5152" b="1">
                <a:solidFill>
                  <a:srgbClr val="F5F8F1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9042167"/>
            <a:ext cx="4179538" cy="408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64"/>
              </a:lnSpc>
              <a:spcBef>
                <a:spcPct val="0"/>
              </a:spcBef>
            </a:pPr>
            <a:r>
              <a:rPr lang="en-US" sz="3295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23CSE301 • TEAM 8</a:t>
            </a:r>
          </a:p>
        </p:txBody>
      </p:sp>
      <p:sp>
        <p:nvSpPr>
          <p:cNvPr id="16" name="AutoShape 16"/>
          <p:cNvSpPr/>
          <p:nvPr/>
        </p:nvSpPr>
        <p:spPr>
          <a:xfrm>
            <a:off x="5493988" y="9277350"/>
            <a:ext cx="9609889" cy="0"/>
          </a:xfrm>
          <a:prstGeom prst="line">
            <a:avLst/>
          </a:prstGeom>
          <a:ln w="38100" cap="flat">
            <a:solidFill>
              <a:srgbClr val="40359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607165">
            <a:off x="15656849" y="52641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607165" flipH="1" flipV="1">
            <a:off x="-1240501" y="-11493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450936" y="667018"/>
            <a:ext cx="11097256" cy="2710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0431"/>
              </a:lnSpc>
              <a:spcBef>
                <a:spcPct val="0"/>
              </a:spcBef>
            </a:pPr>
            <a:r>
              <a:rPr lang="en-US" sz="10227" b="1" u="none" strike="noStrike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CONCLUSION &amp; LIMITATIONS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4441" y="3659036"/>
            <a:ext cx="7935124" cy="4691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3"/>
              </a:lnSpc>
              <a:spcBef>
                <a:spcPct val="0"/>
              </a:spcBef>
            </a:pPr>
            <a:r>
              <a:rPr lang="en-US" sz="2527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Internal SVM test: accuracy/F1 99.37%; AUC 0.9989.</a:t>
            </a:r>
          </a:p>
          <a:p>
            <a:pPr marL="0" lvl="0" indent="0" algn="ctr">
              <a:lnSpc>
                <a:spcPts val="2653"/>
              </a:lnSpc>
              <a:spcBef>
                <a:spcPct val="0"/>
              </a:spcBef>
            </a:pPr>
            <a:endParaRPr lang="en-US" sz="2527" u="none" strike="noStrike">
              <a:solidFill>
                <a:srgbClr val="40359F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marL="0" lvl="0" indent="0" algn="ctr">
              <a:lnSpc>
                <a:spcPts val="2653"/>
              </a:lnSpc>
              <a:spcBef>
                <a:spcPct val="0"/>
              </a:spcBef>
            </a:pPr>
            <a:r>
              <a:rPr lang="en-US" sz="2527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Official validation (1,111 records): accuracy 85.24%; weighted F1 85.36%.</a:t>
            </a:r>
          </a:p>
          <a:p>
            <a:pPr marL="0" lvl="0" indent="0" algn="ctr">
              <a:lnSpc>
                <a:spcPts val="2653"/>
              </a:lnSpc>
              <a:spcBef>
                <a:spcPct val="0"/>
              </a:spcBef>
            </a:pPr>
            <a:endParaRPr lang="en-US" sz="2527" u="none" strike="noStrike">
              <a:solidFill>
                <a:srgbClr val="40359F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marL="0" lvl="0" indent="0" algn="ctr">
              <a:lnSpc>
                <a:spcPts val="2653"/>
              </a:lnSpc>
              <a:spcBef>
                <a:spcPct val="0"/>
              </a:spcBef>
            </a:pPr>
            <a:r>
              <a:rPr lang="en-US" sz="2527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The gap signals a generalization challenge; device/time shift is plausible, not proven.</a:t>
            </a:r>
          </a:p>
          <a:p>
            <a:pPr marL="0" lvl="0" indent="0" algn="ctr">
              <a:lnSpc>
                <a:spcPts val="2653"/>
              </a:lnSpc>
              <a:spcBef>
                <a:spcPct val="0"/>
              </a:spcBef>
            </a:pPr>
            <a:endParaRPr lang="en-US" sz="2527" u="none" strike="noStrike">
              <a:solidFill>
                <a:srgbClr val="40359F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marL="0" lvl="0" indent="0" algn="ctr">
              <a:lnSpc>
                <a:spcPts val="2653"/>
              </a:lnSpc>
              <a:spcBef>
                <a:spcPct val="0"/>
              </a:spcBef>
            </a:pPr>
            <a:r>
              <a:rPr lang="en-US" sz="2527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Next: campus data + cross-device/time testing.</a:t>
            </a:r>
          </a:p>
          <a:p>
            <a:pPr marL="0" lvl="0" indent="0" algn="ctr">
              <a:lnSpc>
                <a:spcPts val="2653"/>
              </a:lnSpc>
              <a:spcBef>
                <a:spcPct val="0"/>
              </a:spcBef>
            </a:pPr>
            <a:r>
              <a:rPr lang="en-US" sz="2527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Dataset: UJIIndoorLoc (UCI); Torres-Sospedra et al., IPIN 2014.</a:t>
            </a:r>
          </a:p>
          <a:p>
            <a:pPr marL="0" lvl="0" indent="0" algn="ctr">
              <a:lnSpc>
                <a:spcPts val="2653"/>
              </a:lnSpc>
              <a:spcBef>
                <a:spcPct val="0"/>
              </a:spcBef>
            </a:pPr>
            <a:endParaRPr lang="en-US" sz="2527" u="none" strike="noStrike">
              <a:solidFill>
                <a:srgbClr val="40359F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marL="0" lvl="0" indent="0" algn="ctr">
              <a:lnSpc>
                <a:spcPts val="2653"/>
              </a:lnSpc>
              <a:spcBef>
                <a:spcPct val="0"/>
              </a:spcBef>
            </a:pPr>
            <a:r>
              <a:rPr lang="en-US" sz="2527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Repo: github.com/Ganesh2006646/Machine-Learning---Case-Study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9042167"/>
            <a:ext cx="4179538" cy="408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64"/>
              </a:lnSpc>
              <a:spcBef>
                <a:spcPct val="0"/>
              </a:spcBef>
            </a:pPr>
            <a:r>
              <a:rPr lang="en-US" sz="3295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23CSE301 • TEAM 8</a:t>
            </a:r>
          </a:p>
        </p:txBody>
      </p:sp>
      <p:sp>
        <p:nvSpPr>
          <p:cNvPr id="7" name="AutoShape 7"/>
          <p:cNvSpPr/>
          <p:nvPr/>
        </p:nvSpPr>
        <p:spPr>
          <a:xfrm>
            <a:off x="5493988" y="9277350"/>
            <a:ext cx="9609889" cy="0"/>
          </a:xfrm>
          <a:prstGeom prst="line">
            <a:avLst/>
          </a:prstGeom>
          <a:ln w="38100" cap="flat">
            <a:solidFill>
              <a:srgbClr val="40359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 descr="Comparison of internal test performance and official validation performance"/>
          <p:cNvSpPr/>
          <p:nvPr/>
        </p:nvSpPr>
        <p:spPr>
          <a:xfrm>
            <a:off x="9545878" y="3759416"/>
            <a:ext cx="6965828" cy="4170331"/>
          </a:xfrm>
          <a:custGeom>
            <a:avLst/>
            <a:gdLst/>
            <a:ahLst/>
            <a:cxnLst/>
            <a:rect l="l" t="t" r="r" b="b"/>
            <a:pathLst>
              <a:path w="6965828" h="4170331">
                <a:moveTo>
                  <a:pt x="0" y="0"/>
                </a:moveTo>
                <a:lnTo>
                  <a:pt x="6965829" y="0"/>
                </a:lnTo>
                <a:lnTo>
                  <a:pt x="6965829" y="4170332"/>
                </a:lnTo>
                <a:lnTo>
                  <a:pt x="0" y="41703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" b="-5"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607165">
            <a:off x="15656849" y="52641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607165" flipH="1" flipV="1">
            <a:off x="-1240501" y="-1149305"/>
            <a:ext cx="3871653" cy="6172200"/>
          </a:xfrm>
          <a:custGeom>
            <a:avLst/>
            <a:gdLst/>
            <a:ahLst/>
            <a:cxnLst/>
            <a:rect l="l" t="t" r="r" b="b"/>
            <a:pathLst>
              <a:path w="3871653" h="6172200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906584" y="4366337"/>
            <a:ext cx="13968637" cy="1763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3253"/>
              </a:lnSpc>
              <a:spcBef>
                <a:spcPct val="0"/>
              </a:spcBef>
            </a:pPr>
            <a:r>
              <a:rPr lang="en-US" sz="12993" b="1" u="none" strike="noStrike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THANK YOU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9042167"/>
            <a:ext cx="4179538" cy="408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64"/>
              </a:lnSpc>
              <a:spcBef>
                <a:spcPct val="0"/>
              </a:spcBef>
            </a:pPr>
            <a:r>
              <a:rPr lang="en-US" sz="3295" u="none" strike="noStrik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23CSE301 • TEAM 8</a:t>
            </a:r>
          </a:p>
        </p:txBody>
      </p:sp>
      <p:sp>
        <p:nvSpPr>
          <p:cNvPr id="6" name="AutoShape 6"/>
          <p:cNvSpPr/>
          <p:nvPr/>
        </p:nvSpPr>
        <p:spPr>
          <a:xfrm>
            <a:off x="5493988" y="9277350"/>
            <a:ext cx="9609889" cy="0"/>
          </a:xfrm>
          <a:prstGeom prst="line">
            <a:avLst/>
          </a:prstGeom>
          <a:ln w="38100" cap="flat">
            <a:solidFill>
              <a:srgbClr val="40359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588</Words>
  <Application>Microsoft Office PowerPoint</Application>
  <PresentationFormat>Custom</PresentationFormat>
  <Paragraphs>112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IBM Plex Sans Arabic</vt:lpstr>
      <vt:lpstr>Work Sans Semi-Bold</vt:lpstr>
      <vt:lpstr>Calibri</vt:lpstr>
      <vt:lpstr>IBM Plex Sans Arabic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Wi-Fi Fingerprint-Based Indoor Localization — Review 2</dc:title>
  <cp:lastModifiedBy>kankatala ganeshgiridhar</cp:lastModifiedBy>
  <cp:revision>1</cp:revision>
  <dcterms:created xsi:type="dcterms:W3CDTF">2006-08-16T00:00:00Z</dcterms:created>
  <dcterms:modified xsi:type="dcterms:W3CDTF">2026-10-22T18:35:56Z</dcterms:modified>
  <dc:identifier>DAHYp9pigLk</dc:identifier>
</cp:coreProperties>
</file>